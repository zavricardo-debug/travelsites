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2438340" cy="3200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438339" y="5120640"/>
            <a:ext cx="24383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6678" y="5120640"/>
            <a:ext cx="2438340" cy="320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017" y="5120640"/>
            <a:ext cx="24383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753356" y="5120640"/>
            <a:ext cx="24383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801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PROPOSTA À JUNTA DE FREGUESIA DE ALVALADE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Calibri"/>
              </a:rPr>
              <a:t>Alvalade Colorida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Dar cor e visibilidade às ruas Marquesa de Alorna, Acácio Paiva, José d'Esaguy e José Duro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48FB6"/>
                </a:solidFill>
                <a:latin typeface="Calibri"/>
              </a:rPr>
              <a:t>Comércio local · Montras abertas · Ruas que se veem da Av. da Igreja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Quem passa na Av. da Igreja não sabe o que existe ali ao lado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217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As ruas transversais à Av. da Igreja têm comércio, mas são invisíveis para quem circula.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Não há nada que convide a entrar: fachadas discretas, sem identidade comum.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O comércio de bairro depende de quem já conhece a loja, não de quem passa.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1F1F2E"/>
                </a:solidFill>
                <a:latin typeface="Calibri"/>
              </a:rPr>
              <a:t>•  Resultado: lojas com pouca procura e uma rua que parece ‘de passagem’.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828800"/>
            <a:ext cx="420624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03120"/>
            <a:ext cx="36576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Objetivo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Transformar quatro ruas num percurso reconhecível, com cor, montras e lojas abertas, que se note a partir da Av. da Igreja.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REFERÊNCIA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inspiração que já funciona: a Rua Cor de Rosa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120640" cy="42062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Rua Nova do Carvalho, Cais do Sodré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1F1F2E"/>
                </a:solidFill>
                <a:latin typeface="Calibri"/>
              </a:rPr>
              <a:t>Pintada de rosa, tornou-se um dos pontos mais fotografados de Lisboa e atrai visitantes e esplanadas para uma rua antes pouco procurada.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92024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é o gancho: quem passa pergunta ‘o que é aquilo?’ e entra.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Cada rua fica com uma identidade própria, sem perder ligação às outras.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cor funciona como sinal de orientação e de destino a visitar.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 adaptação para Alvalade: quatro cores, uma por rua, num único percurso.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A PROPOSTA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Conceito: uma cor por rua, um percurso só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2697480" cy="1463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Azul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Marquesa de Alorna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Moda e acessórios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828800"/>
            <a:ext cx="2697480" cy="14630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Amarelo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1F1F2E"/>
                </a:solidFill>
                <a:latin typeface="Calibri"/>
              </a:rPr>
              <a:t>Acácio Paiva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Cafés, pastelarias e restauração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828800"/>
            <a:ext cx="2697480" cy="1463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Verde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d'Esaguy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Serviços e lojas de bairro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81160" y="1828800"/>
            <a:ext cx="2697480" cy="1463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64040" y="1965960"/>
            <a:ext cx="23317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Laranja</a:t>
            </a:r>
          </a:p>
          <a:p>
            <a:pPr algn="l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José Duro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81160" y="3291840"/>
            <a:ext cx="2697480" cy="246888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3474720"/>
            <a:ext cx="2331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Foco sugerido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Comércio criativo e artesanato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Montra colorida com as lojas abertas da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978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6B"/>
                </a:solidFill>
                <a:latin typeface="Calibri"/>
              </a:rPr>
              <a:t>As cores e os focos são sugestões para discutir com os comerciantes.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Marquesa de Alorna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630936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[Foto real da rua: estrada pintada em azul]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azul e montra à entrada da rua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azul, uma cor do arco-íris por rua.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no início da rua, visível a quem entra pela Av. da Igreja.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MARQUESA DE ALORNA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Pizzaria  [nome a confirmar]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Pastelaria / café  [nome]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 a confirmar]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Acácio Paiva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630936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[Foto real da rua: estrada pintada em vermelho]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vermelho e montra à entrada da rua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vermelho, a cor mais visível de dia.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 com as lojas abertas e os horários do dia.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ACÁCIO PAIVA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Millennium bcp  (visível na fachada)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 a confirmar]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CAFÉ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Café / pastelaria  [nome]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d'Esaguy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630936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[Foto real da rua: estrada pintada em verde]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verde e montra à entrada da rua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verde.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A montra fica à entrada, junto à Av. da Igreja, com as lojas e os serviços da rua.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D'ESAGUY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e serviços abertos agora: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Bankinter  (visível na fachada)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ÓTICA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Alberto Oculista  (visível na fachada)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 a confirmar]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RUA A PINTAR · MONTRA À ENTRADA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Rua José Duro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630936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[Foto real da rua: estrada pintada em laranja]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080760"/>
            <a:ext cx="320040" cy="3200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603504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6B"/>
                </a:solidFill>
                <a:latin typeface="Calibri"/>
              </a:rPr>
              <a:t>Estrada pintada em laranja e montra à entrada da rua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737360"/>
            <a:ext cx="42062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Pintura de toda a faixa de rodagem em laranja, a cor mais quente do percurso.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F1F2E"/>
                </a:solidFill>
                <a:latin typeface="Calibri"/>
              </a:rPr>
              <a:t>Montra à entrada da rua, com as pastelarias, restaurantes e lojas abertas.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3200400"/>
            <a:ext cx="4206240" cy="301752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3200400"/>
            <a:ext cx="4206240" cy="5029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35239" y="3218688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MAPA DA RUA · RUA JOSÉ DURO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39" y="374904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48FB6"/>
                </a:solidFill>
                <a:latin typeface="Calibri"/>
              </a:rPr>
              <a:t>Lojas abertas agora, como num centro comercial: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39" y="406908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4069080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BPI  (visível na fachada)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39" y="4398264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PASTELARIA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4398264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Snack-bar pastelaria restaurante  [nome a confirmar]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39" y="4727448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RESTAURAÇÃO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4727448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Restaurante  [nome]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39" y="5056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COMÉRCIO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056632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Loja de bairro  [nome]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39" y="538581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1">
                <a:solidFill>
                  <a:srgbClr val="FFC82E"/>
                </a:solidFill>
                <a:latin typeface="Calibri"/>
              </a:rPr>
              <a:t>SERVIÇOS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5385816"/>
            <a:ext cx="2514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[nome]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39" y="5897880"/>
            <a:ext cx="3931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48FB6"/>
                </a:solidFill>
                <a:latin typeface="Calibri"/>
              </a:rPr>
              <a:t>▼ Você está na entrada da rua (Av. da Igreja)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MONTRAS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Uma montra por rua: as lojas abertas à vista de todos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painel ou montra comunitária em cada rua, na zona mais visível a partir da Av. da Igreja.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Mostra os comércios abertos naquele momento, com foto, nome e horário.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Atualização simples (quadro, ecrã ou placa com rotação de cartões).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Mapa do percurso com as quatro ruas e a localização de cada loja.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Pode ser um QR code que leva a uma página online com o mesmo conteúdo.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949440" y="1828800"/>
            <a:ext cx="4572000" cy="420624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2011680"/>
            <a:ext cx="41148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Exemplo de cartão de montra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Nome da loja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Rua José Duro, n.º X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Aberto agora · até às 19h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[foto da montra]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se pede aos comerciantes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Participação voluntária, com regras simples e comuns a todos.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Manter a montra arrumada e a loja aberta nas horas anunciadas.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Fornecer foto e horário para o painel da rua.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Aderir à pintura da fachada ou de um elemento de cor (porta, toldo, vaso).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5720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Ganho para o comércio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Mais passagem de pessoas que hoje nem sabem que a loja existe.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1F1F2E"/>
                </a:solidFill>
                <a:latin typeface="Calibri"/>
              </a:rPr>
              <a:t>Campanha conjunta, com custos partilhados e divulgação comum.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IMPLEMENTAÇÃO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Plano faseado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920240"/>
            <a:ext cx="2194560" cy="73152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 · Estudo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Levantamento de lojas, fachadas, pavimento e tráfego em cada rua.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1920240"/>
            <a:ext cx="2194560" cy="7315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 · Adesão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35808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Reuniões com comerciantes e moradores; escolha de cores e montras.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48656" y="1920240"/>
            <a:ext cx="2194560" cy="73152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85816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F1F2E"/>
                </a:solidFill>
                <a:latin typeface="Calibri"/>
              </a:rPr>
              <a:t>3 · Licenças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096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Aprovação técnica e licenciamento junto da CML e serviços competentes.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52944" y="1920240"/>
            <a:ext cx="2194560" cy="73152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0104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 · Execução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4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Pintura, montagem dos painéis e lançamento com evento de rua.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57232" y="1920240"/>
            <a:ext cx="2194560" cy="7315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94392" y="1920240"/>
            <a:ext cx="1920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 · Avaliação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8672" y="2834640"/>
            <a:ext cx="20116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1F1F2E"/>
                </a:solidFill>
                <a:latin typeface="Calibri"/>
              </a:rPr>
              <a:t>Contagens, inquéritos e ajuste ao fim de 6 a 12 meses.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2064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6B"/>
                </a:solidFill>
                <a:latin typeface="Calibri"/>
              </a:rPr>
              <a:t>Nota técnica: a pintura de pavimento deve ser antiderrapante, durável e não confundir a sinalização rodoviária. Pode começar por pintura nos passeios ou em troços de baixo tráfego, se a CML o aprovar.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PEDIDO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O que pedimos à Junta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6400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institucional e articulação com a Câmara Municipal de Lisboa (licenças e pintura).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Cedência ou apoio para a montagem das montras comunitárias.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Divulgação pelos canais da Junta (site, redes sociais, boletim).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Apoio financeiro parcial ou comparticipação, a definir após orçamento.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F1F2E"/>
                </a:solidFill>
                <a:latin typeface="Calibri"/>
              </a:rPr>
              <a:t>•  Um ponto de contacto na Junta para acompanhar o projeto.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828800"/>
            <a:ext cx="4114800" cy="402336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2011680"/>
            <a:ext cx="365760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Orçamento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[Pintura das 4 ruas: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[4 montras comunitárias: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[Comunicação e evento de lançamento: € a preencher]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F1F2E"/>
                </a:solidFill>
                <a:latin typeface="Calibri"/>
              </a:rPr>
              <a:t>Valores a validar com orçamentos reais.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A5A6B"/>
                </a:solidFill>
                <a:latin typeface="Calibri"/>
              </a:rPr>
              <a:t>RESULTADOS ESPERADOS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>
                <a:solidFill>
                  <a:srgbClr val="1F1F2E"/>
                </a:solidFill>
                <a:latin typeface="Calibri"/>
              </a:rPr>
              <a:t>Como medimos o sucesso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137160" cy="1828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Visibilidade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pessoas que tiram fotografias ou param nas ruas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37160" cy="182880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01168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Comércio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5176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Nº de lojas aderentes e variação de clientes/vendas (inquérito)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931920"/>
            <a:ext cx="137160" cy="182880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Passagem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Contagens de peões na Av. da Igreja e nas entradas das ruas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931920"/>
            <a:ext cx="5394960" cy="1828800"/>
          </a:xfrm>
          <a:prstGeom prst="rect">
            <a:avLst/>
          </a:prstGeom>
          <a:solidFill>
            <a:srgbClr val="FB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3931920"/>
            <a:ext cx="137160" cy="18288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114800"/>
            <a:ext cx="4846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1">
                <a:solidFill>
                  <a:srgbClr val="1F1F2E"/>
                </a:solidFill>
                <a:latin typeface="Calibri"/>
              </a:rPr>
              <a:t>Comunidade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754880"/>
            <a:ext cx="4846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5A5A6B"/>
                </a:solidFill>
                <a:latin typeface="Calibri"/>
              </a:rPr>
              <a:t>Satisfação de moradores e comerciantes (inquérito semestral)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Proposta · Junta de Freguesia de Alvalade · Alvalade Colorida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0080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FFC82E"/>
                </a:solidFill>
                <a:latin typeface="Calibri"/>
              </a:rPr>
              <a:t>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Vamos começar por uma rua?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Reunião com a Junta para validar a proposta e o enquadramento.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 com os comerciantes das quatro ruas.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Piloto numa rua (sugestão: José Duro, por ser a mais pequena) antes de avançar para as restantes.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•  Contactos: [nome] · [email] · [telefone]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2438340" cy="548640"/>
          </a:xfrm>
          <a:prstGeom prst="rect">
            <a:avLst/>
          </a:prstGeom>
          <a:solidFill>
            <a:srgbClr val="F48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438339" y="6309360"/>
            <a:ext cx="2438340" cy="5486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76678" y="6309360"/>
            <a:ext cx="2438340" cy="548640"/>
          </a:xfrm>
          <a:prstGeom prst="rect">
            <a:avLst/>
          </a:prstGeom>
          <a:solidFill>
            <a:srgbClr val="FFC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017" y="6309360"/>
            <a:ext cx="2438340" cy="548640"/>
          </a:xfrm>
          <a:prstGeom prst="rect">
            <a:avLst/>
          </a:prstGeom>
          <a:solidFill>
            <a:srgbClr val="2EB8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53356" y="6309360"/>
            <a:ext cx="2438340" cy="5486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