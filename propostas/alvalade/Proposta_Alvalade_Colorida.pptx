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2438340" cy="3200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438339" y="5120640"/>
            <a:ext cx="2438340" cy="320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6678" y="5120640"/>
            <a:ext cx="2438340" cy="320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017" y="5120640"/>
            <a:ext cx="2438340" cy="320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53356" y="5120640"/>
            <a:ext cx="2438340" cy="320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80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C82E"/>
                </a:solidFill>
                <a:latin typeface="Calibri"/>
              </a:rPr>
              <a:t>PROPOSTA À JUNTA DE FREGUESIA DE ALVALADE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Calibri"/>
              </a:rPr>
              <a:t>Alvalade Colorida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Dar cor e visibilidade às ruas Marquesa de Alorna, Acácio Paiva, José d'Esaguy e José Duro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48FB6"/>
                </a:solidFill>
                <a:latin typeface="Calibri"/>
              </a:rPr>
              <a:t>Comércio local · Montras abertas · Ruas que se veem da Av. da Igreja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Quem passa na Av. da Igreja não sabe o que existe ali ao 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217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As ruas transversais à Av. da Igreja têm comércio, mas são invisíveis para quem circula.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Não há nada que convide a entrar: fachadas discretas, sem identidade comum.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O comércio de bairro depende de quem já conhece a loja, não de quem passa.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Resultado: lojas com pouca procura e uma rua que parece ‘de passagem’.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1828800"/>
            <a:ext cx="4206240" cy="40233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2103120"/>
            <a:ext cx="3657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Objetivo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Transformar quatro ruas num percurso reconhecível, com cor, montras e lojas abertas, que se note a partir da Av. da Igreja.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REFERÊNCIA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Uma inspiração que já funciona: a Rua Cor de Rosa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120640" cy="42062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1F1F2E"/>
                </a:solidFill>
                <a:latin typeface="Calibri"/>
              </a:rPr>
              <a:t>Rua Nova do Carvalho, Cais do Sodré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F1F2E"/>
                </a:solidFill>
                <a:latin typeface="Calibri"/>
              </a:rPr>
              <a:t>Pintada de rosa, tornou-se um dos pontos mais fotografados de Lisboa e atrai visitantes e esplanadas para uma rua antes pouco procurada.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cor é o gancho: quem passa pergunta ‘o que é aquilo?’ e entra.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Cada rua fica com uma identidade própria, sem perder ligação às outras.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cor funciona como sinal de orientação e de destino a visitar.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adaptação para Alvalade: quatro cores, uma por rua, num único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Conceito: uma cor por rua, um percurso só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697480" cy="1463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Azul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Marquesa de Alorna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Moda e acessórios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28800"/>
            <a:ext cx="2697480" cy="1463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2E"/>
                </a:solidFill>
                <a:latin typeface="Calibri"/>
              </a:rPr>
              <a:t>Amarelo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2E"/>
                </a:solidFill>
                <a:latin typeface="Calibri"/>
              </a:rPr>
              <a:t>Acácio Paiva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Cafés, pastelarias e restauração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2697480" cy="1463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Verde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d'Esaguy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Serviços e lojas de bairro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81160" y="1828800"/>
            <a:ext cx="2697480" cy="1463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Laranja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Duro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Comércio criativo e artesanato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5A6B"/>
                </a:solidFill>
                <a:latin typeface="Calibri"/>
              </a:rPr>
              <a:t>As cores e os focos são sugestões para discutir com os comerciantes.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HOJE · O QUE NÃO SE VÊ DA AV. DA IGREJA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Acácio Paiva</a:t>
            </a:r>
          </a:p>
        </p:txBody>
      </p:sp>
      <p:pic>
        <p:nvPicPr>
          <p:cNvPr id="5" name="Picture 4" descr="original-acacio-pa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035040" cy="36935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49742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Fotografia atual (Google Street View,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7373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1F2E"/>
                </a:solidFill>
                <a:latin typeface="Calibri"/>
              </a:rPr>
              <a:t>Comércio existente, hoje sem 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24028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Millennium bcp: agência bancária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Cobaia (n.º 19): restaurante mediterrânico, bar e música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Oakberry Açaí (n.º 3F)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Tasco Force (n.º 5D)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The Coffee Alvalade (n.º 14C): em abertura, a confirmar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5257800"/>
            <a:ext cx="4754880" cy="9144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530352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2E"/>
                </a:solidFill>
                <a:latin typeface="Calibri"/>
              </a:rPr>
              <a:t>Quem circula na Av. da Igreja não sabe que a rua tem restauração e serviços a poucos metros da avenida.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HOJE · O QUE NÃO SE VÊ DA AV. DA IGREJA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Marquesa de Alorna</a:t>
            </a:r>
          </a:p>
        </p:txBody>
      </p:sp>
      <p:pic>
        <p:nvPicPr>
          <p:cNvPr id="5" name="Picture 4" descr="original-marquesa-de-alor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035040" cy="37044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60667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Fotografia atual (Google Street View,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7373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1F2E"/>
                </a:solidFill>
                <a:latin typeface="Calibri"/>
              </a:rPr>
              <a:t>Comércio existente, hoje sem 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24028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Pasta Non Basta (n.º 17B): cozinha italiana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A Triunfante de Alvalade (n.º 18)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O Declive (n.º 22D)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Petisco de Alvalade (n.º 25)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Tasca O Cantinho dos Sabores (n.º 30A)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Mickael Mezdari, pâtisserie francesa (n.º 27C)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5257800"/>
            <a:ext cx="4754880" cy="9144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530352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2E"/>
                </a:solidFill>
                <a:latin typeface="Calibri"/>
              </a:rPr>
              <a:t>A rua é curta e quase sem sinalização; quem passa não percebe que há comércio a poucos metros.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HOJE · O QUE NÃO SE VÊ DA AV. DA IGREJA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d'Esaguy</a:t>
            </a:r>
          </a:p>
        </p:txBody>
      </p:sp>
      <p:pic>
        <p:nvPicPr>
          <p:cNvPr id="5" name="Picture 4" descr="original-jose-d-esagu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035040" cy="37003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56578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Fotografia atual (Google Street View,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7373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1F2E"/>
                </a:solidFill>
                <a:latin typeface="Calibri"/>
              </a:rPr>
              <a:t>Comércio existente, hoje sem 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24028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Bankinter: agência bancária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Alberto Oculista: ótica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Isco Pão e Vinho (n.º 10D): padaria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Yokohama (n.º 3B): restaurante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Pérola do Ceira (n.º 4E): cozinha portuguesa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100 Montaditos (n.º 5)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5257800"/>
            <a:ext cx="4754880" cy="9144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530352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2E"/>
                </a:solidFill>
                <a:latin typeface="Calibri"/>
              </a:rPr>
              <a:t>As montras existem, mas não são vistas. A rua parece só de passagem, com carros a ocupar o espaço visual.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HOJE · O QUE NÃO SE VÊ DA AV. DA IGREJA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Duro</a:t>
            </a:r>
          </a:p>
        </p:txBody>
      </p:sp>
      <p:pic>
        <p:nvPicPr>
          <p:cNvPr id="5" name="Picture 4" descr="original-jose-d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035040" cy="3693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49498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Fotografia atual (Google Street View,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7373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1F2E"/>
                </a:solidFill>
                <a:latin typeface="Calibri"/>
              </a:rPr>
              <a:t>Comércio existente, hoje sem 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24028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BPI: agência bancária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O Luís (n.º 29): cozinha portuguesa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MADPIZZA (n.º 25): pizzaria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Do Beco Alvalade (n.º 31A): padaria e brunch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Restaurante Courenses (n.º 25C-D)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Taste Invaders (n.º 22)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5257800"/>
            <a:ext cx="4754880" cy="9144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530352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2E"/>
                </a:solidFill>
                <a:latin typeface="Calibri"/>
              </a:rPr>
              <a:t>A padaria e os restaurantes têm procura de vizinhança, mas nenhum sinal que os anuncie a quem passa.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Marquesa de Alorna</a:t>
            </a:r>
          </a:p>
        </p:txBody>
      </p:sp>
      <p:pic>
        <p:nvPicPr>
          <p:cNvPr id="5" name="Picture 4" descr="rua-marquesa-de-alor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38728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747339"/>
            <a:ext cx="320040" cy="320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701619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azul e montra à entrada da rua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azul, uma cor do arco-íris por rua.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A montra fica no início da rua, visível a quem entra pela Av. da Igreja.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MARQUESA DE ALORNA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Pasta Non Basta  (n.º 17B)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 Triunfante de Alvalade  (n.º 18)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Petisco de Alvalade  (n.º 25)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CAFÉ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Tasca O Cantinho dos Sabores  (n.º 30A)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PASTELARIA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Mickael Mezdari  (n.º 27C)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Acácio Paiva</a:t>
            </a:r>
          </a:p>
        </p:txBody>
      </p:sp>
      <p:pic>
        <p:nvPicPr>
          <p:cNvPr id="5" name="Picture 4" descr="rua-acacio-pa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386139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735916"/>
            <a:ext cx="320040" cy="3200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690196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vermelho e montra à entrada da rua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vermelho, a cor mais visível de dia.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Montra à entrada da rua com as lojas abertas e os horários do dia.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ACÁCIO PAIVA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Millennium bcp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Cobaia  (n.º 19)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AÇAÍ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Oakberry Açaí  (n.º 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Tasco Force  (n.º 5D)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CAFÉ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The Coffee Alvalade  (n.º 14C)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d'Esaguy</a:t>
            </a:r>
          </a:p>
        </p:txBody>
      </p:sp>
      <p:pic>
        <p:nvPicPr>
          <p:cNvPr id="5" name="Picture 4" descr="rua-jose-d-esagu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38685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743064"/>
            <a:ext cx="320040" cy="320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697344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verde e montra à entrada da rua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verde.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A montra fica à entrada, junto à Av. da Igreja, com as lojas e os serviços da rua.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JOSÉ D'ESAGUY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e serviços abertos agora: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Bankinter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ÓTICA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Alberto Oculista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PADARIA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Isco Pão e Vinho  (n.º 10D)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Yokohama  (n.º 3B)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Pérola do Ceira  (n.º 4E)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Duro</a:t>
            </a:r>
          </a:p>
        </p:txBody>
      </p:sp>
      <p:pic>
        <p:nvPicPr>
          <p:cNvPr id="5" name="Picture 4" descr="rua-jose-d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386114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735662"/>
            <a:ext cx="320040" cy="320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689942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laranja e montra à entrada da rua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laranja, a cor mais quente do percurso.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Montra à entrada da rua, com as pastelarias, restaurantes e lojas abertas.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JOSÉ DURO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 Luís  (n.º 29)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PIZZARIA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MADPIZZA  (n.º 25)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PADARIA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Do Beco Alvalade  (n.º 31A)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Taste Invaders  (n.º 22)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LISTA A VALIDAR NO LOCAL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Comércio existente em cada rua (lista completa)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2724912" cy="5486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83080"/>
            <a:ext cx="250545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Acácio Paiva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724912" cy="3749039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68880"/>
            <a:ext cx="250545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Millennium bcp (banco)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Cobaia (n.º 19)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Oakberry Açaí (n.º 3F)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Tasco Force (n.º 5D)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The Coffee Alvalade (n.º 14C, em abertura)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783080"/>
            <a:ext cx="2724912" cy="5486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783080"/>
            <a:ext cx="250545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Marquesa de Alorna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331720"/>
            <a:ext cx="2724912" cy="3749039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2468880"/>
            <a:ext cx="250545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Pasta Non Basta (n.º 17B)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A Triunfante de Alvalade (n.º 18)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O Declive (n.º 22D)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Petisco de Alvalade (n.º 25)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Tasca O Cantinho dos Sabores (n.º 30A)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Truta e Meia (n.º 30)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Mickael Mezdari, pâtisserie (n.º 27C)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2724912" cy="5486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783080"/>
            <a:ext cx="250545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José d'Esaguy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331720"/>
            <a:ext cx="2724912" cy="3749039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468880"/>
            <a:ext cx="250545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Bankinter (banco)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Alberto Oculista (ótica)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Isco Pão e Vinho (n.º 10D)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Yokohama (n.º 3B)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Pérola do Ceira (n.º 4E)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100 Montaditos (n.º 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783080"/>
            <a:ext cx="2724912" cy="5486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53728" y="1783080"/>
            <a:ext cx="250545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José Duro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2331720"/>
            <a:ext cx="2724912" cy="3749039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728" y="2468880"/>
            <a:ext cx="250545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BPI (banco)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O Luís (n.º 29)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MADPIZZA (n.º 25)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Do Beco Alvalade (n.º 31A)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Restaurante Courenses (n.º 25C-D)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Taste Invaders (n.º 22)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Maria Granel (n.º 22B, a confirmar)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Laboratório do Gelado (n.º 21B, a confirmar)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1F2E"/>
                </a:solidFill>
                <a:latin typeface="Calibri"/>
              </a:rPr>
              <a:t>•  Snack-bar pastelaria Helsinquia (a confirmar)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26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Fontes: Junta de Freguesia de Alvalade, OpenAlfa, TripAdvisor, Restaurant Guru e sites dos estabelecimentos.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O ARGUMENTO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Porque é que a cor e as montras trazem visitantes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3611880" cy="7315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3246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Identificável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60320"/>
            <a:ext cx="3611880" cy="26517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32461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Uma cor por rua torna o percurso fácil de ver e de lembrar. 'A rua vermelha' é uma indicação que toda a gente entende.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828800"/>
            <a:ext cx="3611880" cy="73152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28800"/>
            <a:ext cx="3246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1F1F2E"/>
                </a:solidFill>
                <a:latin typeface="Calibri"/>
              </a:rPr>
              <a:t>Visível a partir da Av. da Igreja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2560320"/>
            <a:ext cx="3611880" cy="26517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32461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A cor e a montra à entrada funcionam como convite: quem passa vê que há algo ali, sem precisar de conhecer as lojas.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828800"/>
            <a:ext cx="3611880" cy="7315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828800"/>
            <a:ext cx="3246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Autêntica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560320"/>
            <a:ext cx="3611880" cy="26517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743200"/>
            <a:ext cx="32461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Comércio de bairro, com restauração, pastelarias e serviços, é uma experiência que as pessoas procuram. A cor mostra essa autenticidade.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5A6B"/>
                </a:solidFill>
                <a:latin typeface="Calibri"/>
              </a:rPr>
              <a:t>Lista de comércios: Junta de Freguesia de Alvalade (2021) e guias online; confirmar no local. Referência: a Rua Nova do Carvalho (Cais do Sodré) mostra o mesmo efeito. Sugerimos medir antes e depois (contagens de peões, inquérito a clientes e vendas dos comerciantes aderentes) para validar os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MONTRAS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Uma montra por rua: as lojas abertas à vista de todos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Um painel ou montra comunitária em cada rua, na zona mais visível a partir da Av. da Igreja.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Mostra os comércios abertos naquele momento, com foto, nome e horário.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Atualização simples (quadro, ecrã ou placa com rotação de cartões).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Mapa do percurso com as quatro ruas e a localização de cada loja.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Pode ser um QR code que leva a uma página online com o mesmo conteúdo.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0" y="1828800"/>
            <a:ext cx="4572000" cy="420624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0" y="2011680"/>
            <a:ext cx="41148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Exemplo de cartão de montra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Nome da loja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Rua José Duro, n.º X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Aberto agora · até às 19h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[foto da montra]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ENVOLVIMENTO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O que se pede aos comerciantes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Participação voluntária, com regras simples e comuns a todos.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Manter a montra arrumada e a loja aberta nas horas anunciadas.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Fornecer foto e horário para o painel da rua.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Aderir à pintura da fachada ou de um elemento de cor (porta, toldo, vaso).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5720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Ganho para o comércio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Mais passagem de pessoas que hoje nem sabem que a loja existe.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Campanha conjunta, com custos partilhados e divulgação comum.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Plano faseado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2194560" cy="73152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 · Estudo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Levantamento de lojas, fachadas, pavimento e tráfego em cada rua.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20240"/>
            <a:ext cx="2194560" cy="7315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81528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 · Adesão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Reuniões com comerciantes e moradores; escolha de cores e montras.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8656" y="1920240"/>
            <a:ext cx="2194560" cy="73152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85816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1F2E"/>
                </a:solidFill>
                <a:latin typeface="Calibri"/>
              </a:rPr>
              <a:t>3 · Licenças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096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Aprovação técnica e licenciamento junto da CML e serviços competentes.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52944" y="1920240"/>
            <a:ext cx="2194560" cy="7315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0104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 · Execução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4384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Pintura, montagem dos painéis e lançamento com evento de rua.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57232" y="1920240"/>
            <a:ext cx="2194560" cy="7315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 · Avaliação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48672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Contagens, inquéritos e ajuste ao fim de 6 a 12 meses.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6B"/>
                </a:solidFill>
                <a:latin typeface="Calibri"/>
              </a:rPr>
              <a:t>Nota técnica: a pintura de pavimento deve ser antiderrapante, durável e não confundir a sinalização rodoviária. Pode começar por pintura nos passeios ou em troços de baixo tráfego, se a CML o aprovar.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PEDIDO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O que pedimos à Junta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Apoio institucional e articulação com a Câmara Municipal de Lisboa (licenças e pintura).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Cedência ou apoio para a montagem das montras comunitárias.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Divulgação pelos canais da Junta (site, redes sociais, boletim).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Apoio financeiro parcial ou comparticipação, a definir após orçamento.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Um ponto de contacto na Junta para acompanhar o projeto.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828800"/>
            <a:ext cx="4114800" cy="40233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201168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Orçamento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[Pintura das 4 ruas: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[4 montras comunitárias: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[Comunicação e evento de lançamento: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Valores a validar com orçamentos reais.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RESULTADOS ESPERADOS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Como medimos o sucesso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37160" cy="1828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Nº de pessoas que tiram fotografias ou param nas ruas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137160" cy="182880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116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Comércio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Nº de lojas aderentes e variação de clientes/vendas (inquérito)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3192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137160" cy="182880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Passagem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Contagens de peões na Av. da Igreja e nas entradas das ruas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137160" cy="182880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1148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Comunidade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7548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Satisfação de moradores e comerciantes (inquérito semestral)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C82E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Vamos começar por uma rua?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Reunião com a Junta para validar a proposta e o enquadramento.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Contacto com os comerciantes das quatro ruas.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Piloto numa rua (sugestão: José Duro, por ser a mais pequena) antes de avançar para as restantes.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Contactos: [nome] · [email] · [telefone]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2438340" cy="5486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38339" y="6309360"/>
            <a:ext cx="2438340" cy="5486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8" y="6309360"/>
            <a:ext cx="2438340" cy="5486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017" y="6309360"/>
            <a:ext cx="2438340" cy="5486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53356" y="6309360"/>
            <a:ext cx="2438340" cy="5486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